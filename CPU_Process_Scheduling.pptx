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หน่วยเวลา (Time Unit)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Avg Waiting</c:v>
                  </c:pt>
                  <c:pt idx="1">
                    <c:v>Avg Turnaround</c:v>
                  </c:pt>
                  <c:pt idx="2">
                    <c:v>Avg 1st Response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8.75</c:v>
                </c:pt>
                <c:pt idx="1">
                  <c:v>15.25</c:v>
                </c:pt>
                <c:pt idx="2">
                  <c:v>10.25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Round Robin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Avg Waiting</c:v>
                  </c:pt>
                  <c:pt idx="1">
                    <c:v>Avg Turnaround</c:v>
                  </c:pt>
                  <c:pt idx="2">
                    <c:v>Avg 1st Response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13.5</c:v>
                </c:pt>
                <c:pt idx="1">
                  <c:v>20</c:v>
                </c:pt>
                <c:pt idx="2">
                  <c:v>4.5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6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เวลาเฉลี่ย (ms) — Log Scale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 (ms)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n=100</c:v>
                  </c:pt>
                  <c:pt idx="1">
                    <c:v>n=1,000</c:v>
                  </c:pt>
                  <c:pt idx="2">
                    <c:v>n=10,000</c:v>
                  </c:pt>
                  <c:pt idx="3">
                    <c:v>n=50,000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0.043</c:v>
                </c:pt>
                <c:pt idx="1">
                  <c:v>0.353</c:v>
                </c:pt>
                <c:pt idx="2">
                  <c:v>1.716</c:v>
                </c:pt>
                <c:pt idx="3">
                  <c:v>8.771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Round Robin (ms)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n=100</c:v>
                  </c:pt>
                  <c:pt idx="1">
                    <c:v>n=1,000</c:v>
                  </c:pt>
                  <c:pt idx="2">
                    <c:v>n=10,000</c:v>
                  </c:pt>
                  <c:pt idx="3">
                    <c:v>n=50,000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0.421</c:v>
                </c:pt>
                <c:pt idx="1">
                  <c:v>4.077</c:v>
                </c:pt>
                <c:pt idx="2">
                  <c:v>20.242</c:v>
                </c:pt>
                <c:pt idx="3">
                  <c:v>106.825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6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in val="0.01"/>
        </c:scaling>
        <c:delete val="0"/>
        <c:axPos val="l"/>
        <c:majorGridlines>
          <c:spPr>
            <a:ln w="12700" cap="flat">
              <a:solidFill>
                <a:srgbClr val="E4EA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82296" cy="8229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9710928" y="1600200"/>
            <a:ext cx="100584" cy="100584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9729216" y="2651760"/>
            <a:ext cx="118872" cy="11887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9747504" y="3703320"/>
            <a:ext cx="137160" cy="1371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9765792" y="4754880"/>
            <a:ext cx="155448" cy="15544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7818120" y="5257800"/>
            <a:ext cx="621792" cy="502920"/>
          </a:xfrm>
          <a:prstGeom prst="roundRect">
            <a:avLst>
              <a:gd name="adj" fmla="val 10909"/>
            </a:avLst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525780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67928" y="5257800"/>
            <a:ext cx="621792" cy="502920"/>
          </a:xfrm>
          <a:prstGeom prst="roundRect">
            <a:avLst>
              <a:gd name="adj" fmla="val 10909"/>
            </a:avLst>
          </a:prstGeom>
          <a:solidFill>
            <a:srgbClr val="3FC6D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7928" y="525780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17736" y="5257800"/>
            <a:ext cx="621792" cy="502920"/>
          </a:xfrm>
          <a:prstGeom prst="roundRect">
            <a:avLst>
              <a:gd name="adj" fmla="val 10909"/>
            </a:avLst>
          </a:prstGeom>
          <a:solidFill>
            <a:srgbClr val="6FD6E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17736" y="525780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67544" y="5257800"/>
            <a:ext cx="621792" cy="502920"/>
          </a:xfrm>
          <a:prstGeom prst="roundRect">
            <a:avLst>
              <a:gd name="adj" fmla="val 10909"/>
            </a:avLst>
          </a:prstGeom>
          <a:solidFill>
            <a:srgbClr val="9FE6F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67544" y="5257800"/>
            <a:ext cx="621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35240" y="550468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744200" y="514807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744200" y="51480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1874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ALGORITHM DESIGN &amp; ANALYSIS WITH JAVA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22860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Process Scheduling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640080" y="34290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การจำลองและวิเคราะห์ Algorithm A: FCFS  และ  Algorithm B: Round Robin (Quantum = 3)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2377440" cy="0"/>
          </a:xfrm>
          <a:prstGeom prst="line">
            <a:avLst/>
          </a:prstGeom>
          <a:noFill/>
          <a:ln w="19050">
            <a:solidFill>
              <a:srgbClr val="2B3F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กลุ่มที่ 4  ·  Queue Algorithm Design &amp; Analysis with Java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หัวข้อการนำเสนอ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37944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7099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การวิเคราะห์ปัญหา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039112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Analysis: Case Story, Input/Output, Constraints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60904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898648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7706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การออกแบบ Queue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09981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โครงสร้าง Process และเลือกชนิด Queue ให้เหมาะกับแต่ละ Algorithm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21608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959352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383133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การออกแบบ Algorithm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1605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ของ FCFS และ Round Robin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782312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5020056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89204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 Trace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5221224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จำลองการทำงานทีละ Step พร้อม Gantt Chart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1600200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1837944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6" name="Text 24"/>
          <p:cNvSpPr/>
          <p:nvPr/>
        </p:nvSpPr>
        <p:spPr>
          <a:xfrm>
            <a:off x="6144768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66560" y="170992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Correctness &amp; Complexity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66560" y="2039112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พิสูจน์ Invariant และวิเคราะห์ Time/Space Complexity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2660904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44768" y="2898648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6144768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766560" y="27706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Experiment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766560" y="3099816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Test Cases และผลทดลองวัดเวลาจริงตามขนาด 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3721608"/>
            <a:ext cx="50749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44768" y="3959352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36" name="Text 34"/>
          <p:cNvSpPr/>
          <p:nvPr/>
        </p:nvSpPr>
        <p:spPr>
          <a:xfrm>
            <a:off x="6144768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66560" y="3831336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เปรียบเทียบ &amp; สรุป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766560" y="41605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vs Round Robin แล้วตอบคำถามระบบ Interactive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 Scheduling  ·  กลุ่มที่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1 · PROBLEM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โจทย์: จัดสรร CPU ให้ Process หลายตัว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ระบบปฏิบัติการต้องจัดสรร CPU ให้กับ Process หลายตัวที่รอประมวลผลพร้อมกัน แต่ละ Process มาถึงในเวลาต่างกัน (Arrival Time) และต้องการเวลาใช้ CPU ไม่เท่ากัน (Burst Time) ระบบต้องตัดสินใจว่าจะเลือก Process ใดเข้าใช้ CPU ก่อน-หลัง เพื่อให้ระบบโดยรวมมีประสิทธิภาพและยุติธรรม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703320"/>
            <a:ext cx="59436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 มีข้อจำกัดสำคัญ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4279392"/>
            <a:ext cx="5394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Core — ประมวลผลได้ครั้งละ 1 Process เท่านั้น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ต้องตัดสินใจลำดับการเข้าใช้ CPU ให้ยุติธรรมและมีประสิทธิภาพ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ที่ยังมาไม่ถึง (future arrival) ต้องยังไม่เข้า Ready Queue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03720" y="1645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แนวคิด: Ready Queue → CPU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903720" y="2057400"/>
            <a:ext cx="4754880" cy="3977640"/>
          </a:xfrm>
          <a:prstGeom prst="roundRect">
            <a:avLst>
              <a:gd name="adj" fmla="val 1839"/>
            </a:avLst>
          </a:prstGeom>
          <a:solidFill>
            <a:srgbClr val="0B2545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223760" y="2377440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7223760" y="237744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92440" y="237744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AT=0  BT=8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2944368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294436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92440" y="294436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AT=1  BT=4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23760" y="3511296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351129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92440" y="351129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AT=2  BT=9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4078224"/>
            <a:ext cx="777240" cy="420624"/>
          </a:xfrm>
          <a:prstGeom prst="roundRect">
            <a:avLst>
              <a:gd name="adj" fmla="val 13043"/>
            </a:avLst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407822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92440" y="407822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AT=3  BT=5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84080" y="3108960"/>
            <a:ext cx="54864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424160" y="2743200"/>
            <a:ext cx="914400" cy="9144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1042416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3760" y="4892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= Arrival Time     BT = Burst Time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23760" y="52303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บังคับ: Burst = 8, 4, 9, 5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สมมติ Arrival ห่างกัน 1 หน่วยเวลา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 Scheduling  ·  กลุ่มที่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1 · PROBLEM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· Output · Constraints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3611880" cy="7315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116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30632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ID, Arrival Time, Burst Time ของแต่ละ Process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Quantum สำหรับ Round Robin (กำหนดเป็น 3 หน่วยเวลา)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691640"/>
            <a:ext cx="3611880" cy="73152"/>
          </a:xfrm>
          <a:prstGeom prst="rect">
            <a:avLst/>
          </a:prstGeom>
          <a:solidFill>
            <a:srgbClr val="0088A3"/>
          </a:solidFill>
          <a:ln/>
        </p:spPr>
      </p:sp>
      <p:sp>
        <p:nvSpPr>
          <p:cNvPr id="12" name="Shape 10"/>
          <p:cNvSpPr/>
          <p:nvPr/>
        </p:nvSpPr>
        <p:spPr>
          <a:xfrm>
            <a:off x="4645152" y="2011680"/>
            <a:ext cx="502920" cy="502920"/>
          </a:xfrm>
          <a:prstGeom prst="ellipse">
            <a:avLst/>
          </a:prstGeom>
          <a:solidFill>
            <a:srgbClr val="0088A3"/>
          </a:solidFill>
          <a:ln/>
        </p:spPr>
      </p:sp>
      <p:sp>
        <p:nvSpPr>
          <p:cNvPr id="13" name="Text 11"/>
          <p:cNvSpPr/>
          <p:nvPr/>
        </p:nvSpPr>
        <p:spPr>
          <a:xfrm>
            <a:off x="464515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2697480"/>
            <a:ext cx="30632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ลำดับการเข้าใช้ CPU (Gantt Chart / Execution Order)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Time และ Turnaround Time ของแต่ละ Process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ค่าเฉลี่ยของ Waiting / Turnaround Time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จำนวน Context Switch ที่เกิดขึ้น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1691640"/>
            <a:ext cx="3611880" cy="73152"/>
          </a:xfrm>
          <a:prstGeom prst="rect">
            <a:avLst/>
          </a:prstGeom>
          <a:solidFill>
            <a:srgbClr val="B23A48"/>
          </a:solidFill>
          <a:ln/>
        </p:spPr>
      </p:sp>
      <p:sp>
        <p:nvSpPr>
          <p:cNvPr id="18" name="Shape 16"/>
          <p:cNvSpPr/>
          <p:nvPr/>
        </p:nvSpPr>
        <p:spPr>
          <a:xfrm>
            <a:off x="8485632" y="2011680"/>
            <a:ext cx="502920" cy="502920"/>
          </a:xfrm>
          <a:prstGeom prst="ellipse">
            <a:avLst/>
          </a:prstGeom>
          <a:solidFill>
            <a:srgbClr val="B23A48"/>
          </a:solidFill>
          <a:ln/>
        </p:spPr>
      </p:sp>
      <p:sp>
        <p:nvSpPr>
          <p:cNvPr id="19" name="Text 17"/>
          <p:cNvSpPr/>
          <p:nvPr/>
        </p:nvSpPr>
        <p:spPr>
          <a:xfrm>
            <a:off x="848563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0" y="20116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503920" y="2697480"/>
            <a:ext cx="30632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ประมวลผลตามกติกาของแต่ละ Algorithm เท่านั้น (ห้ามข้ามคิว)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มีเพียง 1 หน่วยประมวลผล (Single Core)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ที่ยังไม่ถึง Arrival Time จะไม่เข้า Ready Queue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ต้องสลับ Process ทุกครั้งที่ครบ Time Quantum หากยังไม่เสร็จ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 Scheduling  ·  กลุ่มที่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2 · QUEUE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ออกแบบ Process Class และเลือกชนิด Queue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B2545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Process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id;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arrivalTime;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burstTime;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remainingTime;   // ใช้เฉพาะ Round Robin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startTime, finishTime;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waitingTime, turnaroundTime;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4251960"/>
            <a:ext cx="4480560" cy="0"/>
          </a:xfrm>
          <a:prstGeom prst="line">
            <a:avLst/>
          </a:prstGeom>
          <a:noFill/>
          <a:ln w="12700">
            <a:solidFill>
              <a:srgbClr val="2B3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4348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Class เดียวร่วมกันได้ทั้งสอง Algorithm — ลดความซ้ำซ้อนของโค้ด และรับประกันว่าทั้งสองฝั่งเทียบผลลัพธ์กันได้ตรง 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1691640"/>
            <a:ext cx="5669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96596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03720" y="1947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A: FCFS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03720" y="2267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Queue (FIFO)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63640" y="2651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เข้าก่อน-ออกก่อน ตามลำดับ Arrival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154680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3154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3154680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3154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52360" y="3154680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3154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09560" y="3346704"/>
            <a:ext cx="32004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275320" y="31546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89320" y="3977640"/>
            <a:ext cx="56692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63640" y="4251960"/>
            <a:ext cx="502920" cy="502920"/>
          </a:xfrm>
          <a:prstGeom prst="ellipse">
            <a:avLst/>
          </a:prstGeom>
          <a:solidFill>
            <a:srgbClr val="0088A3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3720" y="4233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B: Round Robin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03720" y="4553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Queue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263640" y="49377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ที่ยังไม่เสร็จถูกนำกลับไปต่อท้ายคิวแบบวนรอบ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5440680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5440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0" y="5440680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5440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452360" y="5440680"/>
            <a:ext cx="502920" cy="384048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52360" y="544068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35040" y="5632704"/>
            <a:ext cx="182880" cy="182880"/>
          </a:xfrm>
          <a:prstGeom prst="line">
            <a:avLst/>
          </a:prstGeom>
          <a:noFill/>
          <a:ln w="19050">
            <a:solidFill>
              <a:srgbClr val="0088A3"/>
            </a:solidFill>
            <a:prstDash val="dash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8275320" y="54406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กลับไปต่อท้ายคิว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 Scheduling  ·  กลุ่มที่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2 · QUEUE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ทำไมต้องใช้ Queue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การจัดคิว Process เข้ากับเงื่อนไข FIFO ตามธรรมชาติ — Process ที่มาถึงก่อนควรมีสิทธิ์เข้าคิวรอก่อน (Fairness เชิงลำดับเวลา) และ Queue เป็นโครงสร้างข้อมูลที่รองรับการ enqueue/dequeue ด้วย Time Complexity O(1) จึงเหมาะกับการจำลอง Scheduler ที่ต้องทำงานต่อเนื่องกับ Process จำนวนมากแบบ Real-time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มาก่อนได้สิทธิ์ก่อน — สอดคล้องกับหลักความยุติธรรมเชิงเวลา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727448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727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6817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ArrayDeque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Resizable Circular Array — ไม่มี Overhead ของ pointer แบบ Linked List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385816"/>
            <a:ext cx="384048" cy="384048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385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534009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Ready  </a:t>
            </a:r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 Process จำนวนมากที่เข้า-ออกต่อเนื่องได้อย่างมีประสิทธิภาพ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223760" y="1691640"/>
            <a:ext cx="4434840" cy="4434840"/>
          </a:xfrm>
          <a:prstGeom prst="roundRect">
            <a:avLst>
              <a:gd name="adj" fmla="val 1649"/>
            </a:avLst>
          </a:prstGeom>
          <a:solidFill>
            <a:srgbClr val="0B2545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3760" y="214884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O(1)</a:t>
            </a:r>
            <a:endParaRPr lang="en-US" sz="7600" dirty="0"/>
          </a:p>
        </p:txBody>
      </p:sp>
      <p:sp>
        <p:nvSpPr>
          <p:cNvPr id="16" name="Text 14"/>
          <p:cNvSpPr/>
          <p:nvPr/>
        </p:nvSpPr>
        <p:spPr>
          <a:xfrm>
            <a:off x="7223760" y="34290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/ Dequeue / Peek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63840" y="3977640"/>
            <a:ext cx="3154680" cy="0"/>
          </a:xfrm>
          <a:prstGeom prst="line">
            <a:avLst/>
          </a:prstGeom>
          <a:noFill/>
          <a:ln w="12700">
            <a:solidFill>
              <a:srgbClr val="2B3F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41605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เทียบกับ Search / Display ที่ต้องไล่ทีละสมาชิก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23760" y="4663440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7223760" y="557784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Display / Cancel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 Scheduling  ·  กลุ่มที่ 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3 · ALGORITHM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A — First Come First Served (FCFS)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4630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" y="2468880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เรียง Process ตาม Arrival Time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81528" y="2560320"/>
            <a:ext cx="100584" cy="0"/>
          </a:xfrm>
          <a:prstGeom prst="line">
            <a:avLst/>
          </a:prstGeom>
          <a:noFill/>
          <a:ln w="25400">
            <a:solidFill>
              <a:srgbClr val="0088A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0" y="169164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4630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Enqueue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64992" y="2468880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นำ Process ทั้งหมดเข้า Linear Queue ตามลำดับ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33288" y="2560320"/>
            <a:ext cx="100584" cy="0"/>
          </a:xfrm>
          <a:prstGeom prst="line">
            <a:avLst/>
          </a:prstGeom>
          <a:noFill/>
          <a:ln w="25400">
            <a:solidFill>
              <a:srgbClr val="0088A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52160" y="169164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4630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216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Dequeue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16752" y="2468880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ดึงจากหัวคิวมาประมวลผลจนครบ Burst Time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385048" y="2560320"/>
            <a:ext cx="100584" cy="0"/>
          </a:xfrm>
          <a:prstGeom prst="line">
            <a:avLst/>
          </a:prstGeom>
          <a:noFill/>
          <a:ln w="25400">
            <a:solidFill>
              <a:srgbClr val="0088A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03920" y="169164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09760" y="14630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392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68512" y="2468880"/>
            <a:ext cx="2185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 Waiting Time และ Turnaround Time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352044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B2545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3703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Pseudocode: FCFS(processList)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4069080"/>
            <a:ext cx="10515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processList by arrivalTime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&lt;- empty Queue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p in processList: enqueue(queue, p)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&lt;- 0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queue is not empty: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&lt;- dequeue(queue)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&lt;- max(t, p.arrivalTime)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p.startTime &lt;- t;  t &lt;- t + p.burstTime;  p.finishTime &lt;- t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p.waitingTime &lt;- p.startTime - p.arrivalTime</a:t>
            </a:r>
            <a:endParaRPr lang="en-US" sz="11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p.turnaroundTime &lt;- p.finishTime - p.arrivalTime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 Scheduling  ·  กลุ่มที่ 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3 · ALGORITHM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B — Round Robin (Time Quantum = 3)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463040"/>
            <a:ext cx="502920" cy="502920"/>
          </a:xfrm>
          <a:prstGeom prst="ellipse">
            <a:avLst/>
          </a:prstGeom>
          <a:solidFill>
            <a:srgbClr val="0088A3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Queue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นำ Process ที่ Arrival ≤ t เข้า Circular Queue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81528" y="2560320"/>
            <a:ext cx="100584" cy="0"/>
          </a:xfrm>
          <a:prstGeom prst="line">
            <a:avLst/>
          </a:prstGeom>
          <a:noFill/>
          <a:ln w="25400">
            <a:solidFill>
              <a:srgbClr val="0088A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0" y="169164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06240" y="1463040"/>
            <a:ext cx="502920" cy="502920"/>
          </a:xfrm>
          <a:prstGeom prst="ellipse">
            <a:avLst/>
          </a:prstGeom>
          <a:solidFill>
            <a:srgbClr val="0088A3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≤ Quantum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มารันไม่เกิน Time Quantum ต่อรอบ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33288" y="2560320"/>
            <a:ext cx="100584" cy="0"/>
          </a:xfrm>
          <a:prstGeom prst="line">
            <a:avLst/>
          </a:prstGeom>
          <a:noFill/>
          <a:ln w="25400">
            <a:solidFill>
              <a:srgbClr val="0088A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52160" y="169164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1463040"/>
            <a:ext cx="502920" cy="502920"/>
          </a:xfrm>
          <a:prstGeom prst="ellipse">
            <a:avLst/>
          </a:prstGeom>
          <a:solidFill>
            <a:srgbClr val="0088A3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216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Arrivals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8932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ที่มาระหว่างรันจะถูก enqueue ก่อน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85048" y="2560320"/>
            <a:ext cx="100584" cy="0"/>
          </a:xfrm>
          <a:prstGeom prst="line">
            <a:avLst/>
          </a:prstGeom>
          <a:noFill/>
          <a:ln w="25400">
            <a:solidFill>
              <a:srgbClr val="0088A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503920" y="1691640"/>
            <a:ext cx="2514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509760" y="1463040"/>
            <a:ext cx="502920" cy="502920"/>
          </a:xfrm>
          <a:prstGeom prst="ellipse">
            <a:avLst/>
          </a:prstGeom>
          <a:solidFill>
            <a:srgbClr val="0088A3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3920" y="2057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Requeue / Finish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41080" y="2468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ถ้ายังไม่เสร็จ → ต่อท้ายคิว  ถ้าเสร็จ → บันทึกผล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52044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B2545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3703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Pseudocode: ROUND_ROBIN(processList, quantum)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4069080"/>
            <a:ext cx="10515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queue is not empty: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&lt;- dequeue(queue)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 &lt;- min(quantum, p.remainingTime);  t &lt;- t + run;  p.remainingTime -= run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newly-arrived processes (arrivalTime &lt;= t) into queue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p.remainingTime &gt; 0: enqueue(queue, p)          // circular: กลับไปต่อท้ายคิว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p.finishTime &lt;- t; compute turnaroundTime, waitingTime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 Scheduling  ·  กลุ่มที่ 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4 · QUEUE TRACE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จำลองการทำงาน — FCFS (10 Operations)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577840" cy="2788920"/>
        </p:xfrm>
        <a:graphic>
          <a:graphicData uri="http://schemas.openxmlformats.org/drawingml/2006/table">
            <a:tbl>
              <a:tblPr/>
              <a:tblGrid>
                <a:gridCol w="502920"/>
                <a:gridCol w="1188720"/>
                <a:gridCol w="1280160"/>
                <a:gridCol w="1280160"/>
                <a:gridCol w="1325880"/>
              </a:tblGrid>
              <a:tr h="3486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Before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After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 P1..P4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→ 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[P1,P2,P3,P4]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[P1,P2,P3,P4]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[P1,P2,P3,P4]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[P1,P2,P3,P4]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[P1,P2,P3,P4]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P1,P2,P3,P4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[P1,P2,P3,P4]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[P2,P3,P4]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[P2,P3,P4]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[P3,P4]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[P3,P4]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[P4]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6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2628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 / DISPLAY ไม่เปลี่ยนสถานะคิว · DEQUEUE ประมวลผลตามลำดับ FIFO จนคิวว่าง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355080" y="16459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Gantt Chart (สมมติ Arrival: P1=0, P2=1, P3=2, P4=3)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355080" y="2148840"/>
            <a:ext cx="1617785" cy="5486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2148840"/>
            <a:ext cx="16177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0" y="27157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972865" y="2148840"/>
            <a:ext cx="808892" cy="548640"/>
          </a:xfrm>
          <a:prstGeom prst="rect">
            <a:avLst/>
          </a:prstGeom>
          <a:solidFill>
            <a:srgbClr val="0088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72865" y="2148840"/>
            <a:ext cx="8088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35705" y="27157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781757" y="2148840"/>
            <a:ext cx="1820008" cy="548640"/>
          </a:xfrm>
          <a:prstGeom prst="rect">
            <a:avLst/>
          </a:prstGeom>
          <a:solidFill>
            <a:srgbClr val="3FC6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81757" y="2148840"/>
            <a:ext cx="1820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644597" y="27157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0601765" y="2148840"/>
            <a:ext cx="1011115" cy="548640"/>
          </a:xfrm>
          <a:prstGeom prst="rect">
            <a:avLst/>
          </a:prstGeom>
          <a:solidFill>
            <a:srgbClr val="9FE6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1765" y="2148840"/>
            <a:ext cx="10111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464605" y="27157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475720" y="27157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355080" y="3246120"/>
            <a:ext cx="525780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629400" y="3401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ผลลัพธ์ Case Study — FCFS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3749040"/>
          <a:ext cx="2926080" cy="1417320"/>
        </p:xfrm>
        <a:graphic>
          <a:graphicData uri="http://schemas.openxmlformats.org/drawingml/2006/table">
            <a:tbl>
              <a:tblPr/>
              <a:tblGrid>
                <a:gridCol w="914400"/>
                <a:gridCol w="1005840"/>
                <a:gridCol w="100584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Turnaround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P2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P3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P4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9692640" y="37490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Wait = 8.75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Turnaround = 15.25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 Scheduling  ·  กลุ่มที่ 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4 · QUEUE TRACE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จำลองการทำงาน — Round Robin (24 Operations)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— เห็นการวนรอบ (Circular) ชัดเจน: แต่ละ Process ได้ CPU ครั้งละไม่เกิน 3 หน่วยเวลา สลับกันไปจนกว่าจะเสร็จ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276643" cy="640080"/>
          </a:xfrm>
          <a:prstGeom prst="rect">
            <a:avLst/>
          </a:prstGeom>
          <a:solidFill>
            <a:srgbClr val="0B254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12766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5283" y="2148840"/>
            <a:ext cx="1276643" cy="640080"/>
          </a:xfrm>
          <a:prstGeom prst="rect">
            <a:avLst/>
          </a:prstGeom>
          <a:solidFill>
            <a:srgbClr val="0088A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5283" y="2148840"/>
            <a:ext cx="12766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1926" y="2148840"/>
            <a:ext cx="1276643" cy="640080"/>
          </a:xfrm>
          <a:prstGeom prst="rect">
            <a:avLst/>
          </a:prstGeom>
          <a:solidFill>
            <a:srgbClr val="3FC6D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1926" y="2148840"/>
            <a:ext cx="12766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78569" y="2148840"/>
            <a:ext cx="1276643" cy="640080"/>
          </a:xfrm>
          <a:prstGeom prst="rect">
            <a:avLst/>
          </a:prstGeom>
          <a:solidFill>
            <a:srgbClr val="1C729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8569" y="2148840"/>
            <a:ext cx="12766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55212" y="2148840"/>
            <a:ext cx="1276643" cy="640080"/>
          </a:xfrm>
          <a:prstGeom prst="rect">
            <a:avLst/>
          </a:prstGeom>
          <a:solidFill>
            <a:srgbClr val="0B254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55212" y="2148840"/>
            <a:ext cx="12766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31855" y="2148840"/>
            <a:ext cx="425548" cy="640080"/>
          </a:xfrm>
          <a:prstGeom prst="rect">
            <a:avLst/>
          </a:prstGeom>
          <a:solidFill>
            <a:srgbClr val="0088A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1855" y="2148840"/>
            <a:ext cx="4255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57403" y="2148840"/>
            <a:ext cx="1276643" cy="640080"/>
          </a:xfrm>
          <a:prstGeom prst="rect">
            <a:avLst/>
          </a:prstGeom>
          <a:solidFill>
            <a:srgbClr val="3FC6D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57403" y="2148840"/>
            <a:ext cx="12766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34046" y="2148840"/>
            <a:ext cx="851095" cy="640080"/>
          </a:xfrm>
          <a:prstGeom prst="rect">
            <a:avLst/>
          </a:prstGeom>
          <a:solidFill>
            <a:srgbClr val="1C7293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34046" y="2148840"/>
            <a:ext cx="851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85142" y="2148840"/>
            <a:ext cx="851095" cy="640080"/>
          </a:xfrm>
          <a:prstGeom prst="rect">
            <a:avLst/>
          </a:prstGeom>
          <a:solidFill>
            <a:srgbClr val="0B254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5142" y="2148840"/>
            <a:ext cx="851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336237" y="2148840"/>
            <a:ext cx="1276643" cy="640080"/>
          </a:xfrm>
          <a:prstGeom prst="rect">
            <a:avLst/>
          </a:prstGeom>
          <a:solidFill>
            <a:srgbClr val="3FC6DB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36237" y="2148840"/>
            <a:ext cx="12766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✓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28072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642403" y="28072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919046" y="28072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95689" y="28072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72332" y="28072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48975" y="28072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174523" y="28072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451166" y="28072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302262" y="28072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0153357" y="28072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430000" y="28072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8640" y="30632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B2545"/>
          </a:solidFill>
          <a:ln/>
        </p:spPr>
      </p:sp>
      <p:sp>
        <p:nvSpPr>
          <p:cNvPr id="37" name="Text 35"/>
          <p:cNvSpPr/>
          <p:nvPr/>
        </p:nvSpPr>
        <p:spPr>
          <a:xfrm>
            <a:off x="868680" y="30358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965960" y="30632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0088A3"/>
          </a:solidFill>
          <a:ln/>
        </p:spPr>
      </p:sp>
      <p:sp>
        <p:nvSpPr>
          <p:cNvPr id="39" name="Text 37"/>
          <p:cNvSpPr/>
          <p:nvPr/>
        </p:nvSpPr>
        <p:spPr>
          <a:xfrm>
            <a:off x="2286000" y="30358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83280" y="30632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3FC6DB"/>
          </a:solidFill>
          <a:ln/>
        </p:spPr>
      </p:sp>
      <p:sp>
        <p:nvSpPr>
          <p:cNvPr id="41" name="Text 39"/>
          <p:cNvSpPr/>
          <p:nvPr/>
        </p:nvSpPr>
        <p:spPr>
          <a:xfrm>
            <a:off x="3703320" y="30358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00600" y="306324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5120640" y="303580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35040" y="30358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FINISH (สิ้นสุดการทำงาน)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3566160"/>
            <a:ext cx="55778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822960" y="373075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คำอธิบาย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22960" y="4041648"/>
            <a:ext cx="5029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 Process ถูก RUN ครบ Time Quantum แต่ยังไม่เสร็จ จะถูก REQUEUE กลับไปท้ายคิวทันที ทำให้คิวมีลักษณะวนรอบ (Circular) Process ที่มาถึงระหว่างที่ Process อื่นกำลังรันจะถูก ENQUEUE ก่อนที่ Process เดิมจะถูก REQUEUE กลับเข้าไป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355080" y="356616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629400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ผลลัพธ์ Case Study — Round Robin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4069080"/>
          <a:ext cx="4754880" cy="155448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18872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Finish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Wait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A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Turnaround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8A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P1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23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P2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P3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26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24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P4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21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</a:tbl>
          </a:graphicData>
        </a:graphic>
      </p:graphicFrame>
      <p:sp>
        <p:nvSpPr>
          <p:cNvPr id="51" name="Text 48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 Scheduling  ·  กลุ่มที่ 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4 · QUEUE TRACE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เปรียบเทียบผลลัพธ์ Case Study: FCFS vs Round Robin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9164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0B2545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8096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Waiting / Turnaround สูงขึ้น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680960" y="219456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เพราะแต่ละ Process ถูก enqueue/dequeue ซ้ำหลายรอบก่อนจะเสร็จสมบูรณ์ (context switch มากกว่า FCFS)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452360" y="3886200"/>
            <a:ext cx="41605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726680" y="4023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แต่ Response Time ดีกว่ามาก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26680" y="4389120"/>
            <a:ext cx="3703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Process ได้เริ่มใช้ CPU ครั้งแรกเร็วขึ้น (avg 4.5 เทียบกับ 10.25) — จุดเด่นสำหรับระบบที่ต้องโต้ตอบกับผู้ใช้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 Scheduling  ·  กลุ่มที่ 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5 · CORRECTNESS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Invariant ของแต่ละ Algorithm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349240" cy="73152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19385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FCFS — FIFO Queue Invariant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ก่อนเริ่มแต่ละรอบ สมาชิกที่อยู่ Front ของ Queue คือ Process ที่มี Arrival Time น้อยที่สุดในบรรดา Process ที่ยังไม่ถูกประมวลผล ดังนั้นทุกครั้งที่ dequeue จะได้ Process ที่ "มาก่อน" เสมอ ทำให้ผลลัพธ์ตรงตามหลัก First-Come-First-Served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691640"/>
            <a:ext cx="5349240" cy="73152"/>
          </a:xfrm>
          <a:prstGeom prst="rect">
            <a:avLst/>
          </a:prstGeom>
          <a:solidFill>
            <a:srgbClr val="0088A3"/>
          </a:solidFill>
          <a:ln/>
        </p:spPr>
      </p:sp>
      <p:sp>
        <p:nvSpPr>
          <p:cNvPr id="12" name="Shape 10"/>
          <p:cNvSpPr/>
          <p:nvPr/>
        </p:nvSpPr>
        <p:spPr>
          <a:xfrm>
            <a:off x="6446520" y="1965960"/>
            <a:ext cx="457200" cy="457200"/>
          </a:xfrm>
          <a:prstGeom prst="ellipse">
            <a:avLst/>
          </a:prstGeom>
          <a:solidFill>
            <a:srgbClr val="0088A3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86600" y="19385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Robin — Circular Queue Invariant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2606040"/>
            <a:ext cx="4709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ก่อนเริ่มแต่ละรอบ Time Quantum สมาชิกที่ Front คือ Process ที่รอคิวนานที่สุด ทุก Process ที่ยังไม่เสร็จจะถูกนำกลับเข้าคิวเพียงครั้งเดียวต่อรอบเสมอ (ไม่ถูกข้ามหรือรันซ้ำ) จึงรับประกันว่าทุก Process ได้ CPU ภายในเวลาไม่เกิน n × quantum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 Scheduling  ·  กลุ่มที่ 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6-7 · COMPLEXITY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&amp; Space Complexity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 Complexity (ArrayDeque)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486400" cy="196596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011680"/>
              </a:tblGrid>
              <a:tr h="327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หมายเหตุ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</a:rPr>
                        <a:t>enqueue()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</a:rPr>
                        <a:t>O(1) amortized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</a:rPr>
                        <a:t>เพิ่มที่ท้าย array แบบ circular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</a:rPr>
                        <a:t>dequeue()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</a:rPr>
                        <a:t>O(1)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</a:rPr>
                        <a:t>ดึงจาก index หัว array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</a:rPr>
                        <a:t>peek()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</a:rPr>
                        <a:t>O(1)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</a:rPr>
                        <a:t>อ่านค่าไม่ลบออกจากคิว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</a:rPr>
                        <a:t>search()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</a:rPr>
                        <a:t>O(n)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</a:rPr>
                        <a:t>ต้องไล่ทีละสมาชิก เช่น cancelById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</a:rPr>
                        <a:t>display()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</a:rPr>
                        <a:t>O(n)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63B"/>
                          </a:solidFill>
                        </a:rPr>
                        <a:t>วนแสดงสมาชิกทุกตัว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Space Complexity: O(n) ทั้งสอง Algorithm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498848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 Process แต่ละตัวครั้งเดียวใน Queue ⇒ O(n)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Robin: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B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ณ เวลาใดเวลาหนึ่งมี 1 Object ต่อ Process (ใช้ reference เดิม) ⇒ ยังคงเป็น O(n)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0" y="16459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Complexity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0" y="201168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7512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0" y="24505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n)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675120" y="28346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ใช้เวลา sort ตาม Arrival Time เป็นหลัก ส่วน enqueue/dequeue รวมกันเป็น O(n)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0" y="384048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67512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8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 Robin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75120" y="4297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O(n log n + Σ⌈burstᵢ/quantum⌉)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675120" y="470916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เริ่มต้น O(n log n) บวกจำนวนครั้งที่แต่ละ Process ถูก enqueue/dequeue ซ้ำจนกว่าจะทำงานเสร็จ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 Scheduling  ·  กลุ่มที่ 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8 · JAVA 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โครงสร้างโค้ด Java (3 ไฟล์แบบกระชับ)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47088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25880" y="1764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Process.java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0574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เก็บข้อมูล Process หนึ่งตัว: id, arrival, burst, remaining และผลลัพธ์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743200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660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Scheduler.java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95351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 Algorithm A (fcfs), Algorithm B (roundRobin) และฟังก์ชันช่วยเหลือ: show, cancel, printSummary, randomProcesses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54864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639312"/>
            <a:ext cx="457200" cy="45720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25880" y="35570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84962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รัน Case Study, Test Cases 6 กรณี และ Experiment (n = 100 ถึง 50,000)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169164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0B2545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ทำไมใช้ ArrayDeque แทน LinkedList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37960" y="2267712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ArrayDeque ไม่มี Overhead ของการจัดสรร Node แต่ละตัวแบบ Linked List (ไม่ต้องเก็บ pointer next/prev) ทำให้เร็วกว่าและประหยัดหน่วยความจำกว่าในการ enqueue/dequeue จำนวนมาก ๆ ตามที่ Java Documentation แนะนำ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3566160"/>
            <a:ext cx="4846320" cy="0"/>
          </a:xfrm>
          <a:prstGeom prst="line">
            <a:avLst/>
          </a:prstGeom>
          <a:noFill/>
          <a:ln w="12700">
            <a:solidFill>
              <a:srgbClr val="2B3F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374904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Queue&lt;Process&gt; queue = new ArrayDeque&lt;&gt;();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Algorithm A: FCFS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Deque&lt;Process&gt; circularQueue = new ArrayDeque&lt;&gt;();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7F6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Algorithm B: Round Robin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5349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 *.java   →   java Main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 Scheduling  ·  กลุ่มที่ 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9 · TESTING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Test Cases ครอบคลุมทุกสถานการณ์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Case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P1–P4 ตาม Case Study (Burst = 8,4,9,5)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920240"/>
            <a:ext cx="502920" cy="502920"/>
          </a:xfrm>
          <a:prstGeom prst="ellipse">
            <a:avLst/>
          </a:prstGeom>
          <a:solidFill>
            <a:srgbClr val="0088A3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Empty Queue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29260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 Process เข้ามาเลย — ไม่เกิด Exception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92024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8200" y="25603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Item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58200" y="29260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เดียว — Wait = 0, Turnaround = Burst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rgbClr val="0088A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937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Queue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77240" y="53035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สุ่ม 200 Process ด้วย Seed คงที่ ทำงานไม่ Error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297680"/>
            <a:ext cx="502920" cy="502920"/>
          </a:xfrm>
          <a:prstGeom prst="ellipse">
            <a:avLst/>
          </a:prstGeom>
          <a:solidFill>
            <a:srgbClr val="0B2545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17720" y="4937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Burst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17720" y="53035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Process Burst=4 มาพร้อมกัน — RR แจกจ่ายเท่ากัน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40690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58200" y="4297680"/>
            <a:ext cx="502920" cy="502920"/>
          </a:xfrm>
          <a:prstGeom prst="ellipse">
            <a:avLst/>
          </a:prstGeom>
          <a:solidFill>
            <a:srgbClr val="0088A3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58200" y="4937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Case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458200" y="530352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ยกเลิก P2 (กลางคิว) สำเร็จ / ยกเลิก P99 ไม่สำเร็จ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 Scheduling  ·  กลุ่มที่ 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10 · ALGORITHM EXPERIMENT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วัดเวลาเทียบขนาด n = 100 ถึง 50,000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วิธีวัด: System.nanoTime() · Warm-up ก่อนจับเวลา · Seed คงที่ (reproducible) · เฉลี่ยจาก 5 รอบ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70408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011680"/>
            <a:ext cx="3794760" cy="1874520"/>
          </a:xfrm>
          <a:prstGeom prst="roundRect">
            <a:avLst>
              <a:gd name="adj" fmla="val 3902"/>
            </a:avLst>
          </a:prstGeom>
          <a:solidFill>
            <a:srgbClr val="0B2545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818120" y="214884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~10×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001000" y="29260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ใช้เวลามากกว่า FCFS ในทุกขนาด n เนื่องจาก enqueue/dequeue ซ้ำหลายรอบ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18120" y="4069080"/>
            <a:ext cx="3794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DE6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46720" y="4206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หมายเหตุสำคัญ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46720" y="4498848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ตัวเลขข้างต้นมาจากการจำลองแนวโน้ม ต้องคอมไพล์และรันโปรแกรมจริงบนเครื่องตนเอง (javac *.java แล้ว java Main) เพื่อยืนยันค่ามิลลิวินาทีจริงก่อนส่งงาน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 Scheduling  ·  กลุ่มที่ 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ส่วนที่ 11 · COMPARISON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FCFS vs Round Robin — สรุปเปรียบเทียบ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5720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571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ประเด็น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FCFS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Round Robin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Data Structure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Linear Queue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Circular Queue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หลักการ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ตามลำดับ Arrival จนเสร็จทีละตัว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แบ่ง Time Quantum แล้ววนรอบ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Time Complexity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O(n log n)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O(n log n + Σ⌈burstᵢ/quantum⌉)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Fairness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ไม่เป็นธรรมกับ Process สั้นที่มาทีหลัง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เป็นธรรมกว่า ทุก Process ได้ CPU หมุนเวียน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ข้อดี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Implement ง่าย, Overhead ต่ำ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Response Time ต่ำและสม่ำเสมอ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ข้อจำกัด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เกิด Convoy Effect ได้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Context Switch บ่อย, ต้องเลือก Quantum ให้ดี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CF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2545"/>
                          </a:solidFill>
                        </a:rPr>
                        <a:t>เหมาะกับ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Batch Processing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63B"/>
                          </a:solidFill>
                        </a:rPr>
                        <a:t>Interactive / Time-sharing System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Process Scheduling  ·  กลุ่มที่ 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คำถามท้ายโจทย์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FCFS หรือ Round Robin เหมาะกับ Interactive System มากกว่ากัน?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2316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24505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คำตอบ: Round Robin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ระบบเชิงโต้ตอบ (Desktop OS, ผู้ใช้หลายคนพิมพ์คำสั่งพร้อมกัน) ต้องการ Response Time ที่รวดเร็วและคาดเดาได้ ไม่ใช่รอ Process อื่นที่ใช้เวลานานให้เสร็จก่อนแบบ FCFS ซึ่งอาจเกิด Convoy Effect และผู้ใช้รู้สึกว่าระบบค้าง Round Robin แบ่งเวลาให้ทุก Process หมุนเวียนสม่ำเสมอ (Bounded Waiting) แม้ต้องแลกกับ Overhead จาก Context Switch ที่มากกว่า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46520" y="214884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9B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2377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สรุปสั้น 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20840" y="283464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→ เหมาะกับ Batch Processing เบื้องหลัง ไม่มีผู้ใช้รอผลแบบ Real-time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Robin → เหมาะกับ Interactive / Time-sharing System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ทั้งสอง Algorithm ใช้ ArrayDeque เป็นโครงสร้างหลัก O(1) ต่อการ enqueue/dequeue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โค้ดฉบับเต็ม: Process.java · Scheduler.java · Main.java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ขอบคุณครับ / ค่ะ  ·  กลุ่มที่ 4 — CPU Process Scheduling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2026-09-06T12:14:58Z</dcterms:created>
  <dcterms:modified xsi:type="dcterms:W3CDTF">2026-09-06T12:14:58Z</dcterms:modified>
</cp:coreProperties>
</file>